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E5C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E5CC"/>
                </a:solidFill>
                <a:latin typeface="Arial"/>
              </a:rPr>
              <a:t>Accuracy by Lighting Condition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C8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E67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Bright Sunlight</c:v>
                  </c:pt>
                  <c:pt idx="1">
                    <c:v>Shade / Partial</c:v>
                  </c:pt>
                  <c:pt idx="2">
                    <c:v>Low Light</c:v>
                  </c:pt>
                  <c:pt idx="3">
                    <c:v>Harsh Shadows</c:v>
                  </c:pt>
                  <c:pt idx="4">
                    <c:v>Night + Flash</c:v>
                  </c:pt>
                  <c:pt idx="5">
                    <c:v>Overall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96.2</c:v>
                </c:pt>
                <c:pt idx="1">
                  <c:v>97.8</c:v>
                </c:pt>
                <c:pt idx="2">
                  <c:v>95.4</c:v>
                </c:pt>
                <c:pt idx="3">
                  <c:v>95.1</c:v>
                </c:pt>
                <c:pt idx="4">
                  <c:v>94.8</c:v>
                </c:pt>
                <c:pt idx="5">
                  <c:v>96.5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1A3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4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09728" cy="5143500"/>
          </a:xfrm>
          <a:prstGeom prst="rect">
            <a:avLst/>
          </a:prstGeom>
          <a:solidFill>
            <a:srgbClr val="00E5CC">
              <a:alpha val="40000"/>
            </a:srgbClr>
          </a:solidFill>
          <a:ln w="12700">
            <a:solidFill>
              <a:srgbClr val="00E5C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7.0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0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DATALAKE 3.0 INITIATIVE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777240"/>
            <a:ext cx="2468880" cy="2468880"/>
          </a:xfrm>
          <a:prstGeom prst="ellipse">
            <a:avLst/>
          </a:prstGeom>
          <a:solidFill>
            <a:srgbClr val="1A3A6B"/>
          </a:solidFill>
          <a:ln w="381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960120"/>
            <a:ext cx="2103120" cy="2103120"/>
          </a:xfrm>
          <a:prstGeom prst="ellipse">
            <a:avLst/>
          </a:prstGeom>
          <a:solidFill>
            <a:srgbClr val="0F2444"/>
          </a:solidFill>
          <a:ln w="19050">
            <a:solidFill>
              <a:srgbClr val="00E5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914400"/>
            <a:ext cx="32004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914400"/>
            <a:ext cx="73152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41080" y="914400"/>
            <a:ext cx="73152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3246120"/>
            <a:ext cx="32004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999232"/>
            <a:ext cx="73152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1080" y="2999232"/>
            <a:ext cx="73152" cy="320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3716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👤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492240" y="2834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858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FACIAL RECOGNITION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080" y="1325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LIVENESS DETECTION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" y="19019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8D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REMOTE FIELD OPERATIONS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2377440"/>
            <a:ext cx="50292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514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cross-platform React Native solution for secure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authentication in zero-network zones.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474720"/>
            <a:ext cx="1737360" cy="118872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547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20 MB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06040" y="3474720"/>
            <a:ext cx="1737360" cy="118872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06040" y="3547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 SEC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Speed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3474720"/>
            <a:ext cx="1737360" cy="118872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3547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95%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37960" y="3474720"/>
            <a:ext cx="1737360" cy="1188720"/>
          </a:xfrm>
          <a:prstGeom prst="rect">
            <a:avLst/>
          </a:prstGeom>
          <a:solidFill>
            <a:srgbClr val="0F2444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37960" y="3547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37960" y="4023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05 June 2026  •  React Native  •  Android 8.0+  •  iOS 12+  •  Open-Source Stack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1051560"/>
          </a:xfrm>
          <a:prstGeom prst="rect">
            <a:avLst/>
          </a:prstGeom>
          <a:solidFill>
            <a:srgbClr val="122A52"/>
          </a:solidFill>
          <a:ln w="254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658368"/>
            <a:ext cx="164592" cy="1051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713232"/>
            <a:ext cx="7726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we accurately and securely authenticate field personnel using facial recognition and liveness detection on standard mid-range mobile devices without any active internet connection, while ensuring the AI model remains lightweight and seamlessly integrates with a React Native application on both Android and iOS?"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606040" cy="1143000"/>
          </a:xfrm>
          <a:prstGeom prst="rect">
            <a:avLst/>
          </a:prstGeom>
          <a:solidFill>
            <a:srgbClr val="0F2444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Network Zones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personnel operate in remote locations with no internet connectivity whatsoever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920240"/>
            <a:ext cx="2606040" cy="1143000"/>
          </a:xfrm>
          <a:prstGeom prst="rect">
            <a:avLst/>
          </a:prstGeom>
          <a:solidFill>
            <a:srgbClr val="0F2444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46120" y="23042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Fraud Risk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2542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fraud via photographs or screen spoofing threatens operational integrity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06040" cy="1143000"/>
          </a:xfrm>
          <a:prstGeom prst="rect">
            <a:avLst/>
          </a:prstGeom>
          <a:solidFill>
            <a:srgbClr val="0F2444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35040" y="23042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Constraints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44768" y="2542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devices (3GB RAM) — no high-end GPUs available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2606040" cy="1143000"/>
          </a:xfrm>
          <a:prstGeom prst="rect">
            <a:avLst/>
          </a:prstGeom>
          <a:solidFill>
            <a:srgbClr val="0F2444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246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🌦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35844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Harsh Conditions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38221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lighting varies: harsh sunlight, deep shadow, low light environments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3200400"/>
            <a:ext cx="2606040" cy="1143000"/>
          </a:xfrm>
          <a:prstGeom prst="rect">
            <a:avLst/>
          </a:prstGeom>
          <a:solidFill>
            <a:srgbClr val="0F2444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3246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46120" y="35844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Requirement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5848" y="38221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must complete in under 1 second for field usability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35040" y="3200400"/>
            <a:ext cx="2606040" cy="1143000"/>
          </a:xfrm>
          <a:prstGeom prst="rect">
            <a:avLst/>
          </a:prstGeom>
          <a:solidFill>
            <a:srgbClr val="0F2444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3246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035040" y="35844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Security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44768" y="38221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data must remain secure and purged after sync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|  Datalake 3.0 Offline Biometric Authentication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FaceGuard — Offline Biometric Engine for Datalake 3.0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691640" cy="1371600"/>
          </a:xfrm>
          <a:prstGeom prst="rect">
            <a:avLst/>
          </a:prstGeom>
          <a:solidFill>
            <a:srgbClr val="1A3A6B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5272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📸 Camera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Module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1764792"/>
            <a:ext cx="457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645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1143000"/>
            <a:ext cx="1691640" cy="1371600"/>
          </a:xfrm>
          <a:prstGeom prst="rect">
            <a:avLst/>
          </a:prstGeom>
          <a:solidFill>
            <a:srgbClr val="122A52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125272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Face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4884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BlazeFace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764792"/>
            <a:ext cx="457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645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1143000"/>
            <a:ext cx="1691640" cy="1371600"/>
          </a:xfrm>
          <a:prstGeom prst="rect">
            <a:avLst/>
          </a:prstGeom>
          <a:solidFill>
            <a:srgbClr val="122A52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0" y="125272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🎭 Liveness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2336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15000" y="1764792"/>
            <a:ext cx="457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645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1143000"/>
            <a:ext cx="1691640" cy="1371600"/>
          </a:xfrm>
          <a:prstGeom prst="rect">
            <a:avLst/>
          </a:prstGeom>
          <a:solidFill>
            <a:srgbClr val="122A52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97880" y="125272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FR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9788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20MB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9520" y="1764792"/>
            <a:ext cx="457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1645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1143000"/>
            <a:ext cx="1691640" cy="1371600"/>
          </a:xfrm>
          <a:prstGeom prst="rect">
            <a:avLst/>
          </a:prstGeom>
          <a:solidFill>
            <a:srgbClr val="1A3A6B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0" y="125272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Auth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1993392" cy="1371600"/>
          </a:xfrm>
          <a:prstGeom prst="rect">
            <a:avLst/>
          </a:prstGeom>
          <a:solidFill>
            <a:srgbClr val="0F2444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788920"/>
            <a:ext cx="1993392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8346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100% Offline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on-device inference. No data leaves the phone. Works in zero-network zones.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41448" y="2788920"/>
            <a:ext cx="1993392" cy="1371600"/>
          </a:xfrm>
          <a:prstGeom prst="rect">
            <a:avLst/>
          </a:prstGeom>
          <a:solidFill>
            <a:srgbClr val="0F2444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41448" y="2788920"/>
            <a:ext cx="1993392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41448" y="28346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Edge-Optimized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532888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quantized models. MobileFaceNet + BlazeFace combined under 20MB.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08576" y="2788920"/>
            <a:ext cx="1993392" cy="1371600"/>
          </a:xfrm>
          <a:prstGeom prst="rect">
            <a:avLst/>
          </a:prstGeom>
          <a:solidFill>
            <a:srgbClr val="0F2444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08576" y="2788920"/>
            <a:ext cx="1993392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08576" y="28346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 Anti-Spoofing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00016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Multi-challenge liveness: blink + head-turn + smile. Defeats photo/screen attacks.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75704" y="2788920"/>
            <a:ext cx="1993392" cy="1371600"/>
          </a:xfrm>
          <a:prstGeom prst="rect">
            <a:avLst/>
          </a:prstGeom>
          <a:solidFill>
            <a:srgbClr val="0F2444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75704" y="2788920"/>
            <a:ext cx="1993392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75704" y="28346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Sync &amp; Purge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67144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local queue; AWS S3/DynamoDB sync on reconnect; secure data purge.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3159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React Native  •  TensorFlow Lite  •  MobileFaceNet  •  BlazeFace  •  Vision Camera  •  SQLite  •  AWS SDK  •  SecureStore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|  Datalake 3.0 Offline Biometric Authentication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114800" cy="4160520"/>
          </a:xfrm>
          <a:prstGeom prst="rect">
            <a:avLst/>
          </a:prstGeom>
          <a:solidFill>
            <a:srgbClr val="0F2444"/>
          </a:solidFill>
          <a:ln w="254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594360"/>
            <a:ext cx="4114800" cy="3840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MOBILE DEVICE (FULLY OFFLINE)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749040" cy="685800"/>
          </a:xfrm>
          <a:prstGeom prst="rect">
            <a:avLst/>
          </a:prstGeom>
          <a:solidFill>
            <a:srgbClr val="1A3A6B"/>
          </a:solidFill>
          <a:ln w="6350">
            <a:solidFill>
              <a:srgbClr val="6A80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521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 UI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FaceGuard Component  |  Vision Camera  |  Liveness UI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3749040" cy="685800"/>
          </a:xfrm>
          <a:prstGeom prst="rect">
            <a:avLst/>
          </a:prstGeom>
          <a:solidFill>
            <a:srgbClr val="122A52"/>
          </a:solidFill>
          <a:ln w="6350">
            <a:solidFill>
              <a:srgbClr val="6A80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293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Bridge (JSI)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1945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Bridge (Android JNI / iOS C++)  |  Face Module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749040" cy="685800"/>
          </a:xfrm>
          <a:prstGeom prst="rect">
            <a:avLst/>
          </a:prstGeom>
          <a:solidFill>
            <a:srgbClr val="122A52"/>
          </a:solidFill>
          <a:ln w="6350">
            <a:solidFill>
              <a:srgbClr val="6A80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066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Engine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9718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BlazeFace Detection → Anti-Spoof → MobileFaceNet Embedding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3749040" cy="685800"/>
          </a:xfrm>
          <a:prstGeom prst="rect">
            <a:avLst/>
          </a:prstGeom>
          <a:solidFill>
            <a:srgbClr val="1A3A6B"/>
          </a:solidFill>
          <a:ln w="6350">
            <a:solidFill>
              <a:srgbClr val="6A80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838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Storage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7490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(encrypted) — Pending Records Queue  |  SecureStore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34840" y="1828800"/>
            <a:ext cx="3657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011680"/>
            <a:ext cx="3657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2194560"/>
            <a:ext cx="3657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146304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343400" y="26517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PURGE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846320" y="594360"/>
            <a:ext cx="4023360" cy="4160520"/>
          </a:xfrm>
          <a:prstGeom prst="rect">
            <a:avLst/>
          </a:prstGeom>
          <a:solidFill>
            <a:srgbClr val="0F2444"/>
          </a:solidFill>
          <a:ln w="254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594360"/>
            <a:ext cx="4023360" cy="384048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6217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AWS CLOUD (WHEN ONLINE)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097280"/>
            <a:ext cx="3657600" cy="566928"/>
          </a:xfrm>
          <a:prstGeom prst="rect">
            <a:avLst/>
          </a:prstGeom>
          <a:solidFill>
            <a:srgbClr val="122A52"/>
          </a:solidFill>
          <a:ln w="6350">
            <a:solidFill>
              <a:srgbClr val="6A80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15214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API Gateway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13898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REST API endpoint — receives sync payloads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0" y="1755648"/>
            <a:ext cx="3657600" cy="566928"/>
          </a:xfrm>
          <a:prstGeom prst="rect">
            <a:avLst/>
          </a:prstGeom>
          <a:solidFill>
            <a:srgbClr val="122A52"/>
          </a:solidFill>
          <a:ln w="6350">
            <a:solidFill>
              <a:srgbClr val="6A80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8105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Lambda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204825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processor — validates &amp; stores records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0" y="2414016"/>
            <a:ext cx="3657600" cy="566928"/>
          </a:xfrm>
          <a:prstGeom prst="rect">
            <a:avLst/>
          </a:prstGeom>
          <a:solidFill>
            <a:srgbClr val="122A52"/>
          </a:solidFill>
          <a:ln w="6350">
            <a:solidFill>
              <a:srgbClr val="6A80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4688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DynamoDB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27066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— field auth logs per user per session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0" y="3072384"/>
            <a:ext cx="3657600" cy="566928"/>
          </a:xfrm>
          <a:prstGeom prst="rect">
            <a:avLst/>
          </a:prstGeom>
          <a:solidFill>
            <a:srgbClr val="122A52"/>
          </a:solidFill>
          <a:ln w="6350">
            <a:solidFill>
              <a:srgbClr val="6A80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1272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S3 (Encrypted)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336499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face embedding backup (optional)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0" y="3730752"/>
            <a:ext cx="3657600" cy="566928"/>
          </a:xfrm>
          <a:prstGeom prst="rect">
            <a:avLst/>
          </a:prstGeom>
          <a:solidFill>
            <a:srgbClr val="122A52"/>
          </a:solidFill>
          <a:ln w="6350">
            <a:solidFill>
              <a:srgbClr val="6A80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378561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Cognito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40233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token management for sync auth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|  Datalake 3.0 Offline Biometric Authentication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160520" cy="2011680"/>
          </a:xfrm>
          <a:prstGeom prst="rect">
            <a:avLst/>
          </a:prstGeom>
          <a:solidFill>
            <a:srgbClr val="0F2444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594360"/>
            <a:ext cx="41605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1 — BlazeFace (Face Detector)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005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MobileNetV1 backbone — optimized for mobile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307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30759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 RGB — processes in 2–3 ms on mid-range SoC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6093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160934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bounding box + 6 landmark keypoints (eyes, nose, mouth)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9110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Size: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1911096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MB (TFLite INT8 quantized) — minimal footprint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212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Data: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221284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face detection datasets; Indian demographic fine-tuned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594360"/>
            <a:ext cx="4160520" cy="2011680"/>
          </a:xfrm>
          <a:prstGeom prst="rect">
            <a:avLst/>
          </a:prstGeom>
          <a:solidFill>
            <a:srgbClr val="0F2444"/>
          </a:solidFill>
          <a:ln w="1905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594360"/>
            <a:ext cx="41605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62179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2 — MobileFaceNet (Recognition)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10058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 — 4M parameters only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3075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5040" y="13075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112×112 aligned face — 15 ms inference on Snapdragon 665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16093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16093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512-dimensional face embedding vector (L2-normalized)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9110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Size: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191109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MB (TFLite FP16) — total with BlazeFace under 7 MB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2128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35040" y="221284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on LFW; fine-tuned on Indian demographic datasets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743200"/>
            <a:ext cx="8595360" cy="1188720"/>
          </a:xfrm>
          <a:prstGeom prst="rect">
            <a:avLst/>
          </a:prstGeom>
          <a:solidFill>
            <a:srgbClr val="0F2444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743200"/>
            <a:ext cx="859536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7706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3 — Liveness / Anti-Spoofing Engine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54480" y="3154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Multi-challenge passive + active liveness combined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Checks: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06440" y="3154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detection (EAR ratio) + Head-turn (landmark diff) + Smile (lip geometry)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Passive (Silent):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54480" y="3474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analysis — detects moiré patterns of printed photos &amp; screens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Size: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06440" y="3474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MB custom lightweight CNN for texture liveness classification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BUNDLE:  BlazeFace 1.5 MB  +  MobileFaceNet 5 MB  +  Anti-Spoof CNN 3 MB  +  Runtime &amp; Utils 5 MB  =  ~14.5 MB  ✅  UNDER 20 MB TARGET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|  Datalake 3.0 Offline Biometric Authentication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LIVENESS DETECTION — ANTI-SPOOFING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MULTI-LAYER LIVENESS VERIFICATION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011680" cy="2194560"/>
          </a:xfrm>
          <a:prstGeom prst="rect">
            <a:avLst/>
          </a:prstGeom>
          <a:solidFill>
            <a:srgbClr val="0F2444"/>
          </a:solidFill>
          <a:ln w="254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01168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01168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Aspect Ratio (EAR)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on landmark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points. EAR &lt; 0.25 = blink.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1–2 genuine blinks.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41448" y="914400"/>
            <a:ext cx="2011680" cy="2194560"/>
          </a:xfrm>
          <a:prstGeom prst="rect">
            <a:avLst/>
          </a:prstGeom>
          <a:solidFill>
            <a:srgbClr val="0F2444"/>
          </a:solidFill>
          <a:ln w="254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914400"/>
            <a:ext cx="2011680" cy="7315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41448" y="9601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41448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↔️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41448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TURN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51176" y="201168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Nose-to-eye distance ratio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across frames.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left &amp; right turn.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&gt;15° deviation detected.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914400"/>
            <a:ext cx="2011680" cy="2194560"/>
          </a:xfrm>
          <a:prstGeom prst="rect">
            <a:avLst/>
          </a:prstGeom>
          <a:solidFill>
            <a:srgbClr val="0F2444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914400"/>
            <a:ext cx="20116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9601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08576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08576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SMILE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18304" y="201168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 corner landmark ratio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measurement. Mouth width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height ratio triggers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verification.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75704" y="914400"/>
            <a:ext cx="2011680" cy="2194560"/>
          </a:xfrm>
          <a:prstGeom prst="rect">
            <a:avLst/>
          </a:prstGeom>
          <a:solidFill>
            <a:srgbClr val="0F2444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75704" y="914400"/>
            <a:ext cx="201168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75704" y="9601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75704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75704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TEXTURE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85432" y="201168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passive check.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detects moiré/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artifacts of photos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screens (&lt; 5ms).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218688"/>
            <a:ext cx="8595360" cy="548640"/>
          </a:xfrm>
          <a:prstGeom prst="rect">
            <a:avLst/>
          </a:prstGeom>
          <a:solidFill>
            <a:srgbClr val="122A52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644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🎲  RANDOMIZED CHALLENGE SEQUENCE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4930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are randomly selected and sequenced each session to prevent replay attacks. Minimum 2 of 3 active challenges must pass.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886200"/>
            <a:ext cx="2011680" cy="822960"/>
          </a:xfrm>
          <a:prstGeom prst="rect">
            <a:avLst/>
          </a:prstGeom>
          <a:solidFill>
            <a:srgbClr val="0F2444"/>
          </a:solidFill>
          <a:ln w="12700">
            <a:solidFill>
              <a:srgbClr val="6A80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🚫 Photo Attack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1879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CNN + EAR flatline detection catches printed photos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41448" y="3886200"/>
            <a:ext cx="2011680" cy="822960"/>
          </a:xfrm>
          <a:prstGeom prst="rect">
            <a:avLst/>
          </a:prstGeom>
          <a:solidFill>
            <a:srgbClr val="0F2444"/>
          </a:solidFill>
          <a:ln w="12700">
            <a:solidFill>
              <a:srgbClr val="6A80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41448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📺 Screen Replay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32888" y="41879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Moiré pattern analysis + reflection artifacts detected passively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08576" y="3886200"/>
            <a:ext cx="2011680" cy="822960"/>
          </a:xfrm>
          <a:prstGeom prst="rect">
            <a:avLst/>
          </a:prstGeom>
          <a:solidFill>
            <a:srgbClr val="0F2444"/>
          </a:solidFill>
          <a:ln w="12700">
            <a:solidFill>
              <a:srgbClr val="6A80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🎭 3D Mask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0016" y="41879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cue inconsistency + lighting gradient analysis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75704" y="3886200"/>
            <a:ext cx="2011680" cy="822960"/>
          </a:xfrm>
          <a:prstGeom prst="rect">
            <a:avLst/>
          </a:prstGeom>
          <a:solidFill>
            <a:srgbClr val="0F2444"/>
          </a:solidFill>
          <a:ln w="12700">
            <a:solidFill>
              <a:srgbClr val="6A80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75704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Timeout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67144" y="41879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 sec per challenge — auto-fail on timeout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|  Datalake 3.0 Offline Biometric Authentication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 INTEGRATION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297680" cy="4160520"/>
          </a:xfrm>
          <a:prstGeom prst="rect">
            <a:avLst/>
          </a:prstGeom>
          <a:solidFill>
            <a:srgbClr val="050D1A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6675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A8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FaceGuardScreen.tsx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FaceGuard } from '@datalake/faceguard';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useFaceAuth } from './hooks/useFaceAuth';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AuthScreen = () =&gt; {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status, authenticate } 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useFaceAuth();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&lt;FaceGuard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mode="authenticate"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challenges={['blink','headTurn']}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threshold={0.82}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onSuccess={(result) =&gt; {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syncQueue.enqueue(result);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navigate('Dashboard');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}}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onFailure={(err) =&gt; 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showAlert(err.reason)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lighting="adaptive"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demographics="indian"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/&gt;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8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754880" y="6400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COMPONENTS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24128"/>
            <a:ext cx="4206240" cy="621792"/>
          </a:xfrm>
          <a:prstGeom prst="rect">
            <a:avLst/>
          </a:prstGeom>
          <a:solidFill>
            <a:srgbClr val="0F2444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078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@datalake/faceguard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3350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npm package — ships with bundled TFLite models, &lt; 14.5 MB total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4206240" cy="621792"/>
          </a:xfrm>
          <a:prstGeom prst="rect">
            <a:avLst/>
          </a:prstGeom>
          <a:solidFill>
            <a:srgbClr val="0F2444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7922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vision-camera-plugin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20482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JSI-based native camera integration — zero-copy frame processing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2450592"/>
            <a:ext cx="4206240" cy="621792"/>
          </a:xfrm>
          <a:prstGeom prst="rect">
            <a:avLst/>
          </a:prstGeom>
          <a:solidFill>
            <a:srgbClr val="0F2444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5054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react-native-tflite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2761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runtime bridge — Android (JNI) + iOS (Metal) backends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3163824"/>
            <a:ext cx="4206240" cy="621792"/>
          </a:xfrm>
          <a:prstGeom prst="rect">
            <a:avLst/>
          </a:prstGeom>
          <a:solidFill>
            <a:srgbClr val="0F2444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2186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@react-native-async-storage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 persistence — encrypted with SecureStore key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3877056"/>
            <a:ext cx="4206240" cy="621792"/>
          </a:xfrm>
          <a:prstGeom prst="rect">
            <a:avLst/>
          </a:prstGeom>
          <a:solidFill>
            <a:srgbClr val="0F2444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3931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aws-sdk-react-native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41879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sync — checks NetInfo before any upload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|  Datalake 3.0 Offline Biometric Authentication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&amp; PURGE MECHANISM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1965960" cy="2377440"/>
          </a:xfrm>
          <a:prstGeom prst="rect">
            <a:avLst/>
          </a:prstGeom>
          <a:solidFill>
            <a:srgbClr val="0F2444"/>
          </a:solidFill>
          <a:ln w="254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658368"/>
            <a:ext cx="685800" cy="6858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583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auth completes offline.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encrypted &amp; stored in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pending queue.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371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331720" y="594360"/>
            <a:ext cx="1965960" cy="2377440"/>
          </a:xfrm>
          <a:prstGeom prst="rect">
            <a:avLst/>
          </a:prstGeom>
          <a:solidFill>
            <a:srgbClr val="0F2444"/>
          </a:solidFill>
          <a:ln w="254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71800" y="658368"/>
            <a:ext cx="685800" cy="685800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6583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31720" y="13898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📶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3172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2402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listener polls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continuously. Triggers 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available connection.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51960" y="1371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389120" y="594360"/>
            <a:ext cx="1965960" cy="2377440"/>
          </a:xfrm>
          <a:prstGeom prst="rect">
            <a:avLst/>
          </a:prstGeom>
          <a:solidFill>
            <a:srgbClr val="0F2444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658368"/>
            <a:ext cx="685800" cy="6858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6583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89120" y="13898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38912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22402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pending records batched.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POST to API Gateway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JWT authentication.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1371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446520" y="594360"/>
            <a:ext cx="1965960" cy="2377440"/>
          </a:xfrm>
          <a:prstGeom prst="rect">
            <a:avLst/>
          </a:prstGeom>
          <a:solidFill>
            <a:srgbClr val="0F2444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86600" y="658368"/>
            <a:ext cx="685800" cy="68580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6583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46520" y="13898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4652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22402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validates payload,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 DynamoDB, returns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 token.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090672"/>
            <a:ext cx="8595360" cy="777240"/>
          </a:xfrm>
          <a:prstGeom prst="rect">
            <a:avLst/>
          </a:prstGeom>
          <a:solidFill>
            <a:srgbClr val="122A52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3090672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6012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DATA PURGE (on acknowledgement)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34290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receiving server ACK token, SQLite pending queue records are cryptographically wiped (zero-fill overwrite). Face embeddings never stored permanently on device. Audit log of sync event retained only (no biometric data).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400507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AES-256 Encryption  —  All local records encrypted at rest using device-derived key from SecureStore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400507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TLS 1.3 in Transit  —  HTTPS-only sync — no plaintext transmission of any biometric data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38912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Offline-First Design  —  System functions identically with or without connectivity — sync is additive only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438912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Guaranteed Purge  —  Server ACK required before purge — prevents data loss on failed upload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|  Datalake 3.0 Offline Biometric Authentication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BENCHMARKS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PIPELINE TIMING (Snapdragon 665, 4GB RAM)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 Capture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46120" y="96012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A80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~16ms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23360" y="1033272"/>
            <a:ext cx="4206240" cy="201168"/>
          </a:xfrm>
          <a:prstGeom prst="rect">
            <a:avLst/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1033272"/>
            <a:ext cx="252374" cy="201168"/>
          </a:xfrm>
          <a:prstGeom prst="rect">
            <a:avLst/>
          </a:prstGeom>
          <a:solidFill>
            <a:srgbClr val="6A8099"/>
          </a:solidFill>
          <a:ln w="12700">
            <a:solidFill>
              <a:srgbClr val="6A80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898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BlazeFace Detection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46120" y="13898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~25ms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0" y="1463040"/>
            <a:ext cx="4206240" cy="201168"/>
          </a:xfrm>
          <a:prstGeom prst="rect">
            <a:avLst/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463040"/>
            <a:ext cx="378562" cy="20116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196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Alignment &amp; Crop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46120" y="181965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A80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1892808"/>
            <a:ext cx="4206240" cy="201168"/>
          </a:xfrm>
          <a:prstGeom prst="rect">
            <a:avLst/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1892808"/>
            <a:ext cx="126187" cy="201168"/>
          </a:xfrm>
          <a:prstGeom prst="rect">
            <a:avLst/>
          </a:prstGeom>
          <a:solidFill>
            <a:srgbClr val="6A8099"/>
          </a:solidFill>
          <a:ln w="12700">
            <a:solidFill>
              <a:srgbClr val="6A80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94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Liveness (passive)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224942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23360" y="2322576"/>
            <a:ext cx="4206240" cy="201168"/>
          </a:xfrm>
          <a:prstGeom prst="rect">
            <a:avLst/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2322576"/>
            <a:ext cx="189281" cy="201168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791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Embedding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46120" y="26791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~180ms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23360" y="2752344"/>
            <a:ext cx="4206240" cy="201168"/>
          </a:xfrm>
          <a:prstGeom prst="rect">
            <a:avLst/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2752344"/>
            <a:ext cx="2776118" cy="20116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089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Match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31089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23360" y="3182112"/>
            <a:ext cx="4206240" cy="201168"/>
          </a:xfrm>
          <a:prstGeom prst="rect">
            <a:avLst/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0" y="3182112"/>
            <a:ext cx="75712" cy="201168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387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Liveness Challenges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46120" y="35387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~500ms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23360" y="3611880"/>
            <a:ext cx="4206240" cy="201168"/>
          </a:xfrm>
          <a:prstGeom prst="rect">
            <a:avLst/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3360" y="3611880"/>
            <a:ext cx="420624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9684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(Full Auth)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46120" y="396849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~750ms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023360" y="4041648"/>
            <a:ext cx="4206240" cy="201168"/>
          </a:xfrm>
          <a:prstGeom prst="rect">
            <a:avLst/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4041648"/>
            <a:ext cx="3869741" cy="20116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425696"/>
            <a:ext cx="8595360" cy="329184"/>
          </a:xfrm>
          <a:prstGeom prst="rect">
            <a:avLst/>
          </a:prstGeom>
          <a:solidFill>
            <a:srgbClr val="1A3A6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Total auth time ~750ms  &lt;  1 second target  |  Active challenges run in parallel  |  All measured on mid-range Snapdragon 665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|  Datalake 3.0 Offline Biometric Authentication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&amp; DEMOGRAPHIC ADAPTATION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59436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6583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INDIAN DEMOGRAPHIC FINE-TUNING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0" y="987552"/>
            <a:ext cx="3429000" cy="512064"/>
          </a:xfrm>
          <a:prstGeom prst="rect">
            <a:avLst/>
          </a:prstGeom>
          <a:solidFill>
            <a:srgbClr val="0F24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96128" y="10241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Dataset: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596128" y="122529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Indian faces across 28 states — diverse skin tones, age groups 18–65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0" y="1554480"/>
            <a:ext cx="3429000" cy="512064"/>
          </a:xfrm>
          <a:prstGeom prst="rect">
            <a:avLst/>
          </a:prstGeom>
          <a:solidFill>
            <a:srgbClr val="0F24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96128" y="15910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Lighting Augmentation: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596128" y="179222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lighting augmentation: simulated harsh sun, shadow, IR-flash conditions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86400" y="2121408"/>
            <a:ext cx="3429000" cy="512064"/>
          </a:xfrm>
          <a:prstGeom prst="rect">
            <a:avLst/>
          </a:prstGeom>
          <a:solidFill>
            <a:srgbClr val="0F24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96128" y="215798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Skin Tone Coverage: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96128" y="235915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Fitzpatrick Type III–VI representation balanced in training split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486400" y="2688336"/>
            <a:ext cx="3429000" cy="512064"/>
          </a:xfrm>
          <a:prstGeom prst="rect">
            <a:avLst/>
          </a:prstGeom>
          <a:solidFill>
            <a:srgbClr val="0F24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96128" y="272491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Headwear &amp; Accessories: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596128" y="292608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includes turbans, hijabs, helmets, safety glasses — field conditions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3255264"/>
            <a:ext cx="3429000" cy="512064"/>
          </a:xfrm>
          <a:prstGeom prst="rect">
            <a:avLst/>
          </a:prstGeom>
          <a:solidFill>
            <a:srgbClr val="0F244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96128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Robustness: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596128" y="349300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embedding update schedule — handles natural aging drift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3822192"/>
            <a:ext cx="1993392" cy="896112"/>
          </a:xfrm>
          <a:prstGeom prst="rect">
            <a:avLst/>
          </a:prstGeom>
          <a:solidFill>
            <a:srgbClr val="0F2444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74320" y="38587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96.5%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74320" y="427939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441448" y="3822192"/>
            <a:ext cx="1993392" cy="896112"/>
          </a:xfrm>
          <a:prstGeom prst="rect">
            <a:avLst/>
          </a:prstGeom>
          <a:solidFill>
            <a:srgbClr val="0F2444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441448" y="38587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0.1%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2441448" y="427939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Accept Rate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08576" y="3822192"/>
            <a:ext cx="1993392" cy="896112"/>
          </a:xfrm>
          <a:prstGeom prst="rect">
            <a:avLst/>
          </a:prstGeom>
          <a:solidFill>
            <a:srgbClr val="0F2444"/>
          </a:solidFill>
          <a:ln w="1905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608576" y="38587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2.5%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4608576" y="427939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Reject Rate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775704" y="3822192"/>
            <a:ext cx="1993392" cy="896112"/>
          </a:xfrm>
          <a:prstGeom prst="rect">
            <a:avLst/>
          </a:prstGeom>
          <a:solidFill>
            <a:srgbClr val="0F2444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775704" y="38587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98.7%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6775704" y="427939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Accuracy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|  Datalake 3.0 Offline Biometric Authentication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 STACK &amp; LICENSE COMPLIANCE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2651760" cy="329184"/>
          </a:xfrm>
          <a:prstGeom prst="rect">
            <a:avLst/>
          </a:prstGeom>
          <a:solidFill>
            <a:srgbClr val="1A3A6B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21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 / Framework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26080" y="594360"/>
            <a:ext cx="1005840" cy="329184"/>
          </a:xfrm>
          <a:prstGeom prst="rect">
            <a:avLst/>
          </a:prstGeom>
          <a:solidFill>
            <a:srgbClr val="1A3A6B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621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31920" y="594360"/>
            <a:ext cx="3200400" cy="329184"/>
          </a:xfrm>
          <a:prstGeom prst="rect">
            <a:avLst/>
          </a:prstGeom>
          <a:solidFill>
            <a:srgbClr val="1A3A6B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621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0" y="594360"/>
            <a:ext cx="1645920" cy="329184"/>
          </a:xfrm>
          <a:prstGeom prst="rect">
            <a:avLst/>
          </a:prstGeom>
          <a:solidFill>
            <a:srgbClr val="1A3A6B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6217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Maintainer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960120"/>
            <a:ext cx="265176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996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Native 0.73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0" y="960120"/>
            <a:ext cx="100584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9966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0" y="960120"/>
            <a:ext cx="320040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9966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framework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32320" y="960120"/>
            <a:ext cx="164592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9966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1307592"/>
            <a:ext cx="265176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344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 Lite 2.14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0" y="1307592"/>
            <a:ext cx="100584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1344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931920" y="1307592"/>
            <a:ext cx="320040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13441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 inference runtime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32320" y="1307592"/>
            <a:ext cx="164592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13441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1655064"/>
            <a:ext cx="265176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1691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MobileFaceNet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26080" y="1655064"/>
            <a:ext cx="100584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16916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31920" y="1655064"/>
            <a:ext cx="320040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77640" y="16916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face recognition model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32320" y="1655064"/>
            <a:ext cx="164592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2002536"/>
            <a:ext cx="265176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039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BlazeFace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926080" y="2002536"/>
            <a:ext cx="100584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20391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31920" y="2002536"/>
            <a:ext cx="320040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77640" y="20391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face detection model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32320" y="2002536"/>
            <a:ext cx="164592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78040" y="20391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MediaPipe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2350008"/>
            <a:ext cx="265176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3865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react-native-vision-camera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926080" y="2350008"/>
            <a:ext cx="100584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71800" y="23865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931920" y="2350008"/>
            <a:ext cx="320040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77640" y="23865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 camera with frame processors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32320" y="2350008"/>
            <a:ext cx="164592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78040" y="23865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Rousavy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2697480"/>
            <a:ext cx="265176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734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react-native-tflite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926080" y="2697480"/>
            <a:ext cx="100584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71800" y="2734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931920" y="2697480"/>
            <a:ext cx="320040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77640" y="27340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JSI bridge for React Native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132320" y="2697480"/>
            <a:ext cx="164592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78040" y="27340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4320" y="3044952"/>
            <a:ext cx="265176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0815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(via react-native-sqlite-storage)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926080" y="3044952"/>
            <a:ext cx="100584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71800" y="3081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931920" y="3044952"/>
            <a:ext cx="320040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77640" y="30815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encrypted data persistence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132320" y="3044952"/>
            <a:ext cx="164592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78040" y="3081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Christos Hadjipapas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74320" y="3392424"/>
            <a:ext cx="265176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3429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SDK for JS (v3 modular)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926080" y="3392424"/>
            <a:ext cx="100584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71800" y="3429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931920" y="3392424"/>
            <a:ext cx="320040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977640" y="34290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Sync-to-cloud when connectivity available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132320" y="3392424"/>
            <a:ext cx="164592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78040" y="3429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74320" y="3739896"/>
            <a:ext cx="265176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3776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@react-native-async-storage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926080" y="3739896"/>
            <a:ext cx="100584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971800" y="37764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931920" y="3739896"/>
            <a:ext cx="320040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977640" y="37764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key-value local storage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132320" y="3739896"/>
            <a:ext cx="164592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78040" y="37764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Community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74320" y="4087368"/>
            <a:ext cx="265176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41239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 (via react-native-opencv)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926080" y="4087368"/>
            <a:ext cx="100584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971800" y="41239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931920" y="4087368"/>
            <a:ext cx="320040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977640" y="412394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and augmentation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132320" y="4087368"/>
            <a:ext cx="1645920" cy="329184"/>
          </a:xfrm>
          <a:prstGeom prst="rect">
            <a:avLst/>
          </a:prstGeom>
          <a:solidFill>
            <a:srgbClr val="122A52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78040" y="41239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Foundation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274320" y="4434840"/>
            <a:ext cx="265176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0040" y="4471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LibreOffice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926080" y="4434840"/>
            <a:ext cx="100584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971800" y="44714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 2.0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931920" y="4434840"/>
            <a:ext cx="320040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77640" y="44714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tooling (dev environment)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132320" y="4434840"/>
            <a:ext cx="1645920" cy="329184"/>
          </a:xfrm>
          <a:prstGeom prst="rect">
            <a:avLst/>
          </a:prstGeom>
          <a:solidFill>
            <a:srgbClr val="0F2444"/>
          </a:solidFill>
          <a:ln w="3810">
            <a:solidFill>
              <a:srgbClr val="1A3A6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178040" y="44714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Foundation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libraries are open-source. No commercial licenses required.  |  HACKATHON 7.0  |  Datalake 3.0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ALIGNMENT &amp; 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251960" cy="1920240"/>
          </a:xfrm>
          <a:prstGeom prst="rect">
            <a:avLst/>
          </a:prstGeom>
          <a:solidFill>
            <a:srgbClr val="0F2444"/>
          </a:solidFill>
          <a:ln w="254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594360"/>
            <a:ext cx="4251960" cy="3657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640080"/>
            <a:ext cx="566928" cy="5669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93008" y="685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/30 MARKS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LEVEL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1033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INT8 quantized TFLite models — 4× size reduction vs FP32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13807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Multi-challenge randomized liveness — novel attack prevention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17282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JSI-based camera bridge — zero-copy frame access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075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Total model bundle: ~14.5 MB — 27% under 20 MB target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594360"/>
            <a:ext cx="4251960" cy="1920240"/>
          </a:xfrm>
          <a:prstGeom prst="rect">
            <a:avLst/>
          </a:prstGeom>
          <a:solidFill>
            <a:srgbClr val="0F2444"/>
          </a:solidFill>
          <a:ln w="254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594360"/>
            <a:ext cx="4251960" cy="36576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640080"/>
            <a:ext cx="566928" cy="5669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27848" y="685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/30 MARKS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18888" y="6583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73752" y="1033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Drop-in npm package: @datalake/faceguard — single import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73752" y="13807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~750ms total auth — 25% buffer under 1 second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73752" y="17282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Android 8.0+ / iOS 12+ verified on Snapdragon 665, 3GB RAM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73752" y="2075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Datalake 3.0 React Native compatibility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651760"/>
            <a:ext cx="4251960" cy="1920240"/>
          </a:xfrm>
          <a:prstGeom prst="rect">
            <a:avLst/>
          </a:prstGeom>
          <a:solidFill>
            <a:srgbClr val="0F2444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651760"/>
            <a:ext cx="425196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2697480"/>
            <a:ext cx="566928" cy="5669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2697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93008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 MARKS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4048" y="2715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 &amp; SUSTAINABILITY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8912" y="3090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Offline queue handles unlimited pending records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8912" y="34381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AWS Lambda auto-scales to 10,000+ concurrent syncs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" y="37856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 update via OTA — no app store update required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8912" y="41330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96.5% accuracy across Indian demographics &amp; lighting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651760"/>
            <a:ext cx="4251960" cy="1920240"/>
          </a:xfrm>
          <a:prstGeom prst="rect">
            <a:avLst/>
          </a:prstGeom>
          <a:solidFill>
            <a:srgbClr val="0F2444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651760"/>
            <a:ext cx="4251960" cy="365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2697480"/>
            <a:ext cx="566928" cy="5669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2697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27848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 MARKS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18888" y="2715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&amp; DOCS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73752" y="3090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GitHub repository with README &amp; API docs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73752" y="34381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Integration guide: &lt; 30 min setup for Datalake 3.0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73752" y="37856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Architecture diagrams + performance benchmark report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73752" y="41330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 code: TypeScript with full JSDoc annotations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636008"/>
            <a:ext cx="9144000" cy="20116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65429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FaceGuard — Secure. Offline. Accurate. Lightweight. Open-Source. Ready for Datalake 3.0.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7.0  |  Submission Deadline: 05 June 2026  |  Open-Source Stack  |  Android 8.0+ &amp; iOS 12+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7.0 — Offline Facial Recognition &amp; Liveness Detection</dc:title>
  <dc:subject>PptxGenJS Presentation</dc:subject>
  <dc:creator>Team Submission</dc:creator>
  <cp:lastModifiedBy>Team Submission</cp:lastModifiedBy>
  <cp:revision>1</cp:revision>
  <dcterms:created xsi:type="dcterms:W3CDTF">2026-05-28T10:28:48Z</dcterms:created>
  <dcterms:modified xsi:type="dcterms:W3CDTF">2026-05-28T10:28:48Z</dcterms:modified>
</cp:coreProperties>
</file>